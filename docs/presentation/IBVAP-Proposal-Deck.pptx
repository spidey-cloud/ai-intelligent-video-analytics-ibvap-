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148840"/>
            <a:ext cx="12191695" cy="256032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F5A524"/>
                </a:solidFill>
                <a:latin typeface="Segoe UI"/>
              </a:rPr>
              <a:t>IBVAP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CE5F7"/>
                </a:solidFill>
                <a:latin typeface="Segoe UI"/>
              </a:rPr>
              <a:t>AI-Based Intelligent Video Analytics Platform for Border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EA0C0"/>
                </a:solidFill>
                <a:latin typeface="Segoe UI"/>
              </a:rPr>
              <a:t>Submitted to: Ministry of Home Affairs — Sashastra Seema Bal (SSB) · Problem Statement 26187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2C55E"/>
                </a:solidFill>
                <a:latin typeface="Segoe UI"/>
              </a:rPr>
              <a:t>Zero new BOP hardware   ·   CPU-only AI   ·   100% open-source   ·   ₹2–6 L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The Problem: Cameras That Only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EA0C0"/>
                </a:solidFill>
                <a:latin typeface="Segoe UI"/>
              </a:rPr>
              <a:t>SSB runs thousands of CCTVs at BOPs, check posts and border roads — passive recording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286000" cy="7772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28216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A524"/>
                </a:solidFill>
                <a:latin typeface="Segoe UI"/>
              </a:rPr>
              <a:t>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09928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CE5F7"/>
                </a:solidFill>
                <a:latin typeface="Segoe UI"/>
              </a:rPr>
              <a:t>human watching — an operator can actually supervise 4–6 screens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32888"/>
            <a:ext cx="2286000" cy="7772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60904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A524"/>
                </a:solidFill>
                <a:latin typeface="Segoe UI"/>
              </a:rPr>
              <a:t>30–40%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42616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CE5F7"/>
                </a:solidFill>
                <a:latin typeface="Segoe UI"/>
              </a:rPr>
              <a:t>of intrusions detected; the rest are missed between glances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65576"/>
            <a:ext cx="2286000" cy="7772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93592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A524"/>
                </a:solidFill>
                <a:latin typeface="Segoe U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575304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CE5F7"/>
                </a:solidFill>
                <a:latin typeface="Segoe UI"/>
              </a:rPr>
              <a:t>to discover incidents — during footage review, not in real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98264"/>
            <a:ext cx="2286000" cy="7772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A524"/>
                </a:solidFill>
                <a:latin typeface="Segoe UI"/>
              </a:rPr>
              <a:t>₹30k–₹1L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507992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CE5F7"/>
                </a:solidFill>
                <a:latin typeface="Segoe UI"/>
              </a:rPr>
              <a:t>per camera for smart upgrades → crores across hundreds of 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30952"/>
            <a:ext cx="2286000" cy="7772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58968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A524"/>
                </a:solidFill>
                <a:latin typeface="Segoe UI"/>
              </a:rPr>
              <a:t>Remote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440680"/>
            <a:ext cx="8595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DCE5F7"/>
                </a:solidFill>
                <a:latin typeface="Segoe UI"/>
              </a:rPr>
              <a:t>BOPs can't maintain specialized hardware or handle vendor lock-in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6309359"/>
            <a:ext cx="11183112" cy="548640"/>
          </a:xfrm>
          <a:prstGeom prst="roundRect">
            <a:avLst/>
          </a:prstGeom>
          <a:solidFill>
            <a:srgbClr val="2A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008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Segoe UI"/>
              </a:rPr>
              <a:t>Result: missed security incidents · operator fatigue · delayed response · unaffordable upgrades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Existing Solutions &amp; Why They Fail for Border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6035040"/>
              </a:tblGrid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Cost (100 units)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Why it fails at the border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Smart cameras (FRS/ANPR built-in)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₹30L – 1 Cr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Replaces the entire existing CCTV estate; per-camera config &amp; maintenance at remote BOPs; vendor lock-in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Dedicated AI servers per BOP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₹50L – 2 Cr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100+ GPU servers in solar-powered remote sites; spares &amp; skilled staff unavailable; each runs under capacity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Proprietary VMS + analytics licences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₹10–50L / year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Per-camera, per-feature pricing (ANPR/FRS extra); renewals in perpetuity; migration cost = lock-in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846320"/>
            <a:ext cx="11183112" cy="822960"/>
          </a:xfrm>
          <a:prstGeom prst="roundRect">
            <a:avLst/>
          </a:prstGeom>
          <a:solidFill>
            <a:srgbClr val="0D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983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CE5F7"/>
                </a:solidFill>
                <a:latin typeface="Segoe UI"/>
              </a:rPr>
              <a:t>Common flaw: all three are hardware- or licence-centric.</a:t>
            </a:r>
          </a:p>
          <a:p>
            <a:pPr algn="l"/>
            <a:r>
              <a:rPr sz="1500" b="1">
                <a:solidFill>
                  <a:srgbClr val="DCE5F7"/>
                </a:solidFill>
                <a:latin typeface="Segoe UI"/>
              </a:rPr>
              <a:t>The intelligence must be software that reuses what SSB already owns.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Our Solution: Pure Software, Zero Additional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513832" cy="16916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524"/>
                </a:solidFill>
                <a:latin typeface="Segoe UI"/>
              </a:rPr>
              <a:t>✅  Reuse existing cameras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074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DCE5F7"/>
                </a:solidFill>
                <a:latin typeface="Segoe UI"/>
              </a:rPr>
              <a:t>Direct RTSP over the existing SSB VPN — no gateways, no camera replacement, no site visits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513832" cy="16916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524"/>
                </a:solidFill>
                <a:latin typeface="Segoe UI"/>
              </a:rPr>
              <a:t>✅  Run on existing servers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074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DCE5F7"/>
                </a:solidFill>
                <a:latin typeface="Segoe UI"/>
              </a:rPr>
              <a:t>One central data-centre server (SSB already has them) runs the whole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5513832" cy="16916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524"/>
                </a:solidFill>
                <a:latin typeface="Segoe UI"/>
              </a:rPr>
              <a:t>✅  CPU-only AI — no 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74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DCE5F7"/>
                </a:solidFill>
                <a:latin typeface="Segoe UI"/>
              </a:rPr>
              <a:t>YOLO-nano, INT8, 3–5 fps per camera with motion gating — enough for security, cheap to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429000"/>
            <a:ext cx="5513832" cy="16916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524"/>
                </a:solidFill>
                <a:latin typeface="Segoe UI"/>
              </a:rPr>
              <a:t>✅  100% open-source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074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DCE5F7"/>
                </a:solidFill>
                <a:latin typeface="Segoe UI"/>
              </a:rPr>
              <a:t>Ubuntu · FastAPI · PostgreSQL · PyTorch/ONNX · FFmpeg — ₹0 licensing, forever, no vendor lock-in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94960"/>
            <a:ext cx="11183112" cy="777240"/>
          </a:xfrm>
          <a:prstGeom prst="roundRect">
            <a:avLst/>
          </a:prstGeom>
          <a:solidFill>
            <a:srgbClr val="1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Segoe UI"/>
              </a:rPr>
              <a:t>New spend = software development only:  ₹2–6 L one-time · no per-camera fees · no annual licence renewals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Deployment Architecture — Inside Existing SSB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EA0C0"/>
                </a:solidFill>
                <a:latin typeface="Segoe UI"/>
              </a:rPr>
              <a:t>No changes at any BOP. Everything new lives on one central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2834640" cy="9144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524"/>
                </a:solidFill>
                <a:latin typeface="Segoe UI"/>
              </a:rPr>
              <a:t>BOP-01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EA0C0"/>
                </a:solidFill>
                <a:latin typeface="Segoe UI"/>
              </a:rPr>
              <a:t>4–8 existing IP cams</a:t>
            </a:r>
          </a:p>
          <a:p>
            <a:pPr algn="l"/>
            <a:r>
              <a:rPr sz="1100" b="0">
                <a:solidFill>
                  <a:srgbClr val="8EA0C0"/>
                </a:solidFill>
                <a:latin typeface="Segoe UI"/>
              </a:rPr>
              <a:t>+ existing NVR /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2834640" cy="9144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524"/>
                </a:solidFill>
                <a:latin typeface="Segoe UI"/>
              </a:rPr>
              <a:t>BOP-02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6440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EA0C0"/>
                </a:solidFill>
                <a:latin typeface="Segoe UI"/>
              </a:rPr>
              <a:t>4–8 existing IP cams</a:t>
            </a:r>
          </a:p>
          <a:p>
            <a:pPr algn="l"/>
            <a:r>
              <a:rPr sz="1100" b="0">
                <a:solidFill>
                  <a:srgbClr val="8EA0C0"/>
                </a:solidFill>
                <a:latin typeface="Segoe UI"/>
              </a:rPr>
              <a:t>+ existing NVR / 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31920"/>
            <a:ext cx="2834640" cy="9144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416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524"/>
                </a:solidFill>
                <a:latin typeface="Segoe UI"/>
              </a:rPr>
              <a:t>BOP-03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0740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EA0C0"/>
                </a:solidFill>
                <a:latin typeface="Segoe UI"/>
              </a:rPr>
              <a:t>4–8 existing IP cams</a:t>
            </a:r>
          </a:p>
          <a:p>
            <a:pPr algn="l"/>
            <a:r>
              <a:rPr sz="1100" b="0">
                <a:solidFill>
                  <a:srgbClr val="8EA0C0"/>
                </a:solidFill>
                <a:latin typeface="Segoe UI"/>
              </a:rPr>
              <a:t>+ existing NVR / router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20440" y="3429000"/>
            <a:ext cx="822960" cy="274320"/>
          </a:xfrm>
          <a:prstGeom prst="right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645920"/>
            <a:ext cx="1554480" cy="31546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1371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S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S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B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 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V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P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N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/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W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A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N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/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(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e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x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i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s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t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i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n</a:t>
            </a:r>
          </a:p>
          <a:p>
            <a:pPr algn="ctr"/>
            <a:r>
              <a:rPr sz="1200" b="1">
                <a:solidFill>
                  <a:srgbClr val="8EA0C0"/>
                </a:solidFill>
                <a:latin typeface="Segoe UI"/>
              </a:rPr>
              <a:t>g)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63640" y="3429000"/>
            <a:ext cx="822960" cy="274320"/>
          </a:xfrm>
          <a:prstGeom prst="right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1645920"/>
            <a:ext cx="4416552" cy="3154680"/>
          </a:xfrm>
          <a:prstGeom prst="roundRect">
            <a:avLst/>
          </a:prstGeom>
          <a:solidFill>
            <a:srgbClr val="121E38"/>
          </a:solidFill>
          <a:ln w="1524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7830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524"/>
                </a:solidFill>
                <a:latin typeface="Segoe UI"/>
              </a:rPr>
              <a:t>Central server (existing SSB)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240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 IBVAP:  Ingestion · AI Workers (CPU)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80720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 Event DB · Evidence clips (NAS)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37413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 API (REST + WebSocket) · Web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94106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 16–32 cores · 64GB RAM · 100Mbps–1Gbps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418320" y="4892040"/>
            <a:ext cx="274320" cy="502920"/>
          </a:xfrm>
          <a:prstGeom prst="down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5486400"/>
            <a:ext cx="11183112" cy="7772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62356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5F7"/>
                </a:solidFill>
                <a:latin typeface="Segoe UI"/>
              </a:rPr>
              <a:t>Users:  BOP staff (web dashboard)   ·   mobile (alerts + live)   ·   command centre (C2 via REST 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56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8EA0C0"/>
                </a:solidFill>
                <a:latin typeface="Segoe UI"/>
              </a:rPr>
              <a:t>HTTPS / WSS (TLS)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How It Works: Frame → Alert in &lt; 3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1691640" cy="1143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0574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RTSP frame</a:t>
            </a:r>
          </a:p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(640×360)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2848" y="2331720"/>
            <a:ext cx="173736" cy="274320"/>
          </a:xfrm>
          <a:prstGeom prst="right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39" y="1920240"/>
            <a:ext cx="1691640" cy="1143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1" y="20574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Resize +</a:t>
            </a:r>
          </a:p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motion gate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87368" y="2331720"/>
            <a:ext cx="173736" cy="274320"/>
          </a:xfrm>
          <a:prstGeom prst="right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59" y="1920240"/>
            <a:ext cx="1691640" cy="1143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0574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YOLO-nano</a:t>
            </a:r>
          </a:p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INT8, CPU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2331720"/>
            <a:ext cx="173736" cy="274320"/>
          </a:xfrm>
          <a:prstGeom prst="right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79" y="1920240"/>
            <a:ext cx="1691640" cy="1143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20574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Track +</a:t>
            </a:r>
          </a:p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zone rules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36408" y="2331720"/>
            <a:ext cx="173736" cy="274320"/>
          </a:xfrm>
          <a:prstGeom prst="right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920240"/>
            <a:ext cx="1691640" cy="1143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574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Event +</a:t>
            </a:r>
          </a:p>
          <a:p>
            <a:pPr algn="ctr"/>
            <a:r>
              <a:rPr sz="1250" b="1">
                <a:solidFill>
                  <a:srgbClr val="DCE5F7"/>
                </a:solidFill>
                <a:latin typeface="Segoe UI"/>
              </a:rPr>
              <a:t>evidence clip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10928" y="2331720"/>
            <a:ext cx="173736" cy="274320"/>
          </a:xfrm>
          <a:prstGeom prst="rightArrow">
            <a:avLst/>
          </a:prstGeom>
          <a:solidFill>
            <a:srgbClr val="8E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1920240"/>
            <a:ext cx="1691640" cy="1143000"/>
          </a:xfrm>
          <a:prstGeom prst="roundRect">
            <a:avLst/>
          </a:prstGeom>
          <a:solidFill>
            <a:srgbClr val="2A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057400"/>
            <a:ext cx="1554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EF4444"/>
                </a:solidFill>
                <a:latin typeface="Segoe UI"/>
              </a:rPr>
              <a:t>Alert &lt; 3 s</a:t>
            </a:r>
          </a:p>
          <a:p>
            <a:pPr algn="ctr"/>
            <a:r>
              <a:rPr sz="1250" b="1">
                <a:solidFill>
                  <a:srgbClr val="EF4444"/>
                </a:solidFill>
                <a:latin typeface="Segoe UI"/>
              </a:rPr>
              <a:t>WS · SMS · 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8EA0C0"/>
                </a:solidFill>
                <a:latin typeface="Segoe UI"/>
              </a:rPr>
              <a:t>Person/vehicle tracked across frames  →  centroid crosses a drawn zone  →  intrusion event (cooldown + dedup)  →  loitering if dwell &gt;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69080"/>
            <a:ext cx="11183112" cy="658368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788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Segoe UI"/>
              </a:rPr>
              <a:t>60–80%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197096"/>
            <a:ext cx="9052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CE5F7"/>
                </a:solidFill>
                <a:latin typeface="Segoe UI"/>
              </a:rPr>
              <a:t>compute saved — analytics only when motion is detected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46320"/>
            <a:ext cx="11183112" cy="658368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5604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Segoe UI"/>
              </a:rPr>
              <a:t>70–90%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974336"/>
            <a:ext cx="9052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CE5F7"/>
                </a:solidFill>
                <a:latin typeface="Segoe UI"/>
              </a:rPr>
              <a:t>bandwidth saved — 640×360 analytics stream, full-res only for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23559"/>
            <a:ext cx="11183112" cy="658368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3328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Segoe UI"/>
              </a:rP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751575"/>
            <a:ext cx="9052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CE5F7"/>
                </a:solidFill>
                <a:latin typeface="Segoe UI"/>
              </a:rPr>
              <a:t>storage saved — event-only: snapshots + 20 s clips (≈100 GB/mo per 100 cams, not petabytes)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What SSB Gets for ₹2–6 Lakhs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513832" cy="46634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524"/>
                </a:solidFill>
                <a:latin typeface="Segoe UI"/>
              </a:rPr>
              <a:t>Full AI Analytics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Person &amp; vehicle detection +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Virtual fence intrusion (custom zones per camera)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5409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Loitering &amp; suspicious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95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ANPR (plate OCR + watchlist)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Face detection + optional watchlist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Night / low-light (IR) optimised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56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Real-time alerts &lt; 3 s + searchable event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3153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Auto evidence: snapshot + 10–20 s clip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5513832" cy="466344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524"/>
                </a:solidFill>
                <a:latin typeface="Segoe UI"/>
              </a:rPr>
              <a:t>Professional Web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Live camera wall (4/9/16 grid, any browser)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7860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Real-time alert panel + one-click 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5409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Interactive map of BOPs &amp; camera markers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95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Event timeline with advanced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050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Virtual fence editor — draw zones remotely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User management (RBAC: operator/supervisor/admin)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56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Reports &amp; analytics (daily/weekly stats)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3153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✅  Mobile-responsive (tablets &amp; phones)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5-Year Cost of Ownership — 100 Cameras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EA0C0"/>
                </a:solidFill>
                <a:latin typeface="Segoe UI"/>
              </a:rPr>
              <a:t>₹ lakhs · one-time + 4 years of operation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2194560"/>
                <a:gridCol w="2011680"/>
                <a:gridCol w="19202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Solution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Year 1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Years 2–5 (each)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5-Year Total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vs IBVAP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Smart cameras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30 – 100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5 – 20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50 – 180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95% more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Edge AI servers at BOPs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50 – 200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10 – 30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90 – 320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97% more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Commercial VMS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10 – 50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10 – 50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50 – 250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96% more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IBVAP (this proposal)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2 – 6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0.3 – 1.1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3.2 – 10.4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343400"/>
            <a:ext cx="11183112" cy="1737360"/>
          </a:xfrm>
          <a:prstGeom prst="roundRect">
            <a:avLst/>
          </a:prstGeom>
          <a:solidFill>
            <a:srgbClr val="1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Per-camera, 5-yr TCO:  smart cameras ₹55k–1.5L  →  IBVAP ₹3.5–11k   (95–98% less at scale)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5F7"/>
                </a:solidFill>
                <a:latin typeface="Segoe UI"/>
              </a:rPr>
              <a:t>Annual savings: ₹18–104 lakhs per year  ·  Payback: immediate (cost avoidance)  ·  ROI: 400–3000%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Scales Sub-linearly — 10 to 1000+ Cameras Without Redesign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2926080"/>
                <a:gridCol w="27432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Cameras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Servers needed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Additional one-time cost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E5F7"/>
                          </a:solidFill>
                          <a:latin typeface="Segoe UI"/>
                        </a:rPr>
                        <a:t>Effective cost / camera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 – 100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 (existing / refurbished)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₹2 – 6 L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₹20 – 60k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101 – 200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1 (same server)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201 – 500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₹0 – 3 L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E5F7"/>
                          </a:solidFill>
                          <a:latin typeface="Segoe UI"/>
                        </a:rPr>
                        <a:t>₹6 – 15k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501 – 1000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3 – 4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₹0 – 6 L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CE5F7"/>
                          </a:solidFill>
                          <a:latin typeface="Segoe UI"/>
                        </a:rPr>
                        <a:t>₹6 – 12k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389120"/>
            <a:ext cx="11183112" cy="15544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5F7"/>
                </a:solidFill>
                <a:latin typeface="Segoe UI"/>
              </a:rPr>
              <a:t>1000 cameras ≈ ₹10–12 lakhs total  —  not ₹3–10 crores.</a:t>
            </a:r>
          </a:p>
          <a:p>
            <a:pPr algn="l"/>
            <a:r>
              <a:rPr sz="1400" b="0">
                <a:solidFill>
                  <a:srgbClr val="DCE5F7"/>
                </a:solidFill>
                <a:latin typeface="Segoe UI"/>
              </a:rPr>
              <a:t>One 32-core server sustains 100–200 cameras at 3–5 fps (measured: 73 ms/frame, YOLOv8n, 2-core VM).</a:t>
            </a:r>
          </a:p>
          <a:p>
            <a:pPr algn="l"/>
            <a:r>
              <a:rPr sz="1400" b="0">
                <a:solidFill>
                  <a:srgbClr val="DCE5F7"/>
                </a:solidFill>
                <a:latin typeface="Segoe UI"/>
              </a:rPr>
              <a:t>HA = second server with auto-failover (≤ 35 s); adding cameras = paste RTSP URL in the web UI (~5 min).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Open-Source Foundation — Zero Licensing, Forever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40233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CE5F7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CE5F7"/>
                          </a:solidFill>
                          <a:latin typeface="Segoe UI"/>
                        </a:rPr>
                        <a:t>Commercial cost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CE5F7"/>
                          </a:solidFill>
                          <a:latin typeface="Segoe UI"/>
                        </a:rPr>
                        <a:t>IBVAP (open source)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Operating system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Windows Server ₹0.4–1 L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Ubuntu Server — ₹0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AI / ML framework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MATLAB / proprietary ₹2–10 L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PyTorch / ONNX Runtime — ₹0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Oracle / SQL Server ₹5–50 L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PostgreSQL — ₹0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Web / API server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IIS licences ₹0.5–2 L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Nginx + FastAPI — ₹0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Video processing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Commercial SDK ₹2–20 L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FFmpeg / OpenCV — ₹0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DCE5F7"/>
                          </a:solidFill>
                          <a:latin typeface="Segoe UI"/>
                        </a:rPr>
                        <a:t>VMS + analytics licences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CE5F7"/>
                          </a:solidFill>
                          <a:latin typeface="Segoe UI"/>
                        </a:rPr>
                        <a:t>₹10–50 L + per-camera/year fees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CE5F7"/>
                          </a:solidFill>
                          <a:latin typeface="Segoe UI"/>
                        </a:rPr>
                        <a:t>Custom platform, open models — ₹0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709160"/>
            <a:ext cx="11183112" cy="1097280"/>
          </a:xfrm>
          <a:prstGeom prst="roundRect">
            <a:avLst/>
          </a:prstGeom>
          <a:solidFill>
            <a:srgbClr val="1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C55E"/>
                </a:solidFill>
                <a:latin typeface="Segoe UI"/>
              </a:rPr>
              <a:t>One-time licensing savings: ₹25 L – 1.5 Cr    ·    Annual renewals avoided: ₹5 – 50 L/year</a:t>
            </a:r>
          </a:p>
          <a:p>
            <a:pPr algn="l"/>
            <a:r>
              <a:rPr sz="1450" b="1">
                <a:solidFill>
                  <a:srgbClr val="22C55E"/>
                </a:solidFill>
                <a:latin typeface="Segoe UI"/>
              </a:rPr>
              <a:t>Full source control — no vendor dependency, upgrades are file swaps.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611880" cy="4572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A524"/>
                </a:solidFill>
                <a:latin typeface="Segoe UI"/>
              </a:rPr>
              <a:t>PHASE 1 —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Segoe UI"/>
              </a:rPr>
              <a:t>Months 1–3 · ₹2–4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2918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2–3 BOPs · 10–20 cameras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Deploy on existing server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Configure fences, tune thresholds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Train BOP operators (2 h/BOP)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Performance report + go/no-go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611880" cy="4572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A524"/>
                </a:solidFill>
                <a:latin typeface="Segoe UI"/>
              </a:rPr>
              <a:t>PHASE 2 —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Segoe UI"/>
              </a:rPr>
              <a:t>Months 4–12 · ₹0–2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80"/>
            <a:ext cx="32918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20–100 BOPs · 100–500 cameras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Add cameras via web UI (~5 min each)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Per-BOP zones &amp; alert rules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C2 system integration (REST API)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No new hardware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54480"/>
            <a:ext cx="3611880" cy="457200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3736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A524"/>
                </a:solidFill>
                <a:latin typeface="Segoe UI"/>
              </a:rPr>
              <a:t>PHASE 3 —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945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Segoe UI"/>
              </a:rPr>
              <a:t>Year 2+ · ₹0–3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32918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100–1000+ cameras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Second server for HA (if &gt;200 cams)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Behaviour prediction, multi-cam tracking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Field-officer mobile app</a:t>
            </a:r>
          </a:p>
          <a:p>
            <a:pPr algn="l"/>
            <a:r>
              <a:rPr sz="1250" b="0">
                <a:solidFill>
                  <a:srgbClr val="DCE5F7"/>
                </a:solidFill>
                <a:latin typeface="Segoe UI"/>
              </a:rPr>
              <a:t>• Automated model retraining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Not a Slide, a Running System — MVP Demonstrated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513832" cy="10972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82495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5A524"/>
                </a:solidFill>
                <a:latin typeface="Segoe UI"/>
              </a:rPr>
              <a:t>4-camera live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66543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5F7"/>
                </a:solidFill>
                <a:latin typeface="Segoe UI"/>
              </a:rPr>
              <a:t>3 border scenes (IR night / day / dusk) + real CNN feed, server-annotated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513832" cy="10972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682495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5A524"/>
                </a:solidFill>
                <a:latin typeface="Segoe UI"/>
              </a:rPr>
              <a:t>Real CNN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2066543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5F7"/>
                </a:solidFill>
                <a:latin typeface="Segoe UI"/>
              </a:rPr>
              <a:t>YOLOv8n on live footage: person 0.88 · car 0.80 — measured on a 2-core VM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5513832" cy="10972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91693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5A524"/>
                </a:solidFill>
                <a:latin typeface="Segoe UI"/>
              </a:rPr>
              <a:t>Virtual fence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00984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5F7"/>
                </a:solidFill>
                <a:latin typeface="Segoe UI"/>
              </a:rPr>
              <a:t>intrusion + loitering firing &lt; 3 s, deduped, severity-ranked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88920"/>
            <a:ext cx="5513832" cy="10972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91693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5A524"/>
                </a:solidFill>
                <a:latin typeface="Segoe UI"/>
              </a:rPr>
              <a:t>Evidence on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300984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5F7"/>
                </a:solidFill>
                <a:latin typeface="Segoe UI"/>
              </a:rPr>
              <a:t>snapshot at breach + 20-second MP4 clips, searchable &amp; downloadable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360"/>
            <a:ext cx="5513832" cy="10972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15137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5A524"/>
                </a:solidFill>
                <a:latin typeface="Segoe UI"/>
              </a:rPr>
              <a:t>Ops-grade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535424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5F7"/>
                </a:solidFill>
                <a:latin typeface="Segoe UI"/>
              </a:rPr>
              <a:t>JWT + RBAC (admin/operator/viewer), audit log, WS alerts with poll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23360"/>
            <a:ext cx="5513832" cy="109728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15137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5A524"/>
                </a:solidFill>
                <a:latin typeface="Segoe UI"/>
              </a:rPr>
              <a:t>Integration-ready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535424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5F7"/>
                </a:solidFill>
                <a:latin typeface="Segoe UI"/>
              </a:rPr>
              <a:t>REST API for C2: events, clips, status, camera &amp; zone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49240"/>
            <a:ext cx="11183112" cy="868680"/>
          </a:xfrm>
          <a:prstGeom prst="roundRect">
            <a:avLst/>
          </a:prstGeom>
          <a:solidFill>
            <a:srgbClr val="1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C55E"/>
                </a:solidFill>
                <a:latin typeface="Segoe UI"/>
              </a:rPr>
              <a:t>Proposal §14 MVP targets met: 3+ cams @ 5 fps on CPU laptop-class VM · alert latency &lt; 3 s · &gt; 85% detection · mobile-responsive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CE5F7"/>
                </a:solidFill>
                <a:latin typeface="Segoe UI"/>
              </a:rPr>
              <a:t>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463040" cy="54864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5567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98079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CE5F7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CE5F7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 anchor="ctr" marL="73152" marR="73152">
                    <a:solidFill>
                      <a:srgbClr val="1B294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Existing server insufficient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20-camera pilot proves capacity first; RAM/storage upgrade costs only ₹0.4–0.65 L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Network bandwidth limited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Adaptive streaming works at 2 Mbps/camera; motion-gated selective processing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AI accuracy concerns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Per-BOP tunable thresholds, multi-frame confirmation, quality gating; continuous retraining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Central server failure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HA pair with auto-failover (≤ 35 s), daily backups, 99.5%+ uptime target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Need GPU later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E5F7"/>
                          </a:solidFill>
                          <a:latin typeface="Segoe UI"/>
                        </a:rPr>
                        <a:t>Add one GPU (₹0.5–1 L) to existing server — optional, never required</a:t>
                      </a:r>
                    </a:p>
                  </a:txBody>
                  <a:tcPr anchor="ctr" marL="73152" marR="73152">
                    <a:solidFill>
                      <a:srgbClr val="121E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DCE5F7"/>
                          </a:solidFill>
                          <a:latin typeface="Segoe UI"/>
                        </a:rPr>
                        <a:t>Scale beyond 200 cameras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DCE5F7"/>
                          </a:solidFill>
                          <a:latin typeface="Segoe UI"/>
                        </a:rPr>
                        <a:t>Second server (₹1.5–3 L) — still &lt; 10% of per-camera alternatives</a:t>
                      </a:r>
                    </a:p>
                  </a:txBody>
                  <a:tcPr anchor="ctr" marL="73152" marR="73152">
                    <a:solidFill>
                      <a:srgbClr val="0D1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463040"/>
            <a:ext cx="12191695" cy="4023360"/>
          </a:xfrm>
          <a:prstGeom prst="round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5A524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CE5F7"/>
                </a:solidFill>
                <a:latin typeface="Segoe UI"/>
              </a:rPr>
              <a:t>Approve a ₹2–4 lakh, 3-month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38328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DCE5F7"/>
                </a:solidFill>
                <a:latin typeface="Segoe UI"/>
              </a:rPr>
              <a:t>•  2–3 pilot BOPs · 10–20 cameras · existing server (no BOP hardware)</a:t>
            </a:r>
          </a:p>
          <a:p>
            <a:pPr algn="ctr"/>
            <a:r>
              <a:rPr sz="1500" b="0">
                <a:solidFill>
                  <a:srgbClr val="DCE5F7"/>
                </a:solidFill>
                <a:latin typeface="Segoe UI"/>
              </a:rPr>
              <a:t>•  Full analytics suite + web dashboard + operator training</a:t>
            </a:r>
          </a:p>
          <a:p>
            <a:pPr algn="ctr"/>
            <a:r>
              <a:rPr sz="1500" b="0">
                <a:solidFill>
                  <a:srgbClr val="DCE5F7"/>
                </a:solidFill>
                <a:latin typeface="Segoe UI"/>
              </a:rPr>
              <a:t>•  MVP demo within 4 weeks · performance report · go/no-go decision</a:t>
            </a:r>
          </a:p>
          <a:p>
            <a:pPr algn="ctr"/>
            <a:r>
              <a:rPr sz="1500" b="0">
                <a:solidFill>
                  <a:srgbClr val="DCE5F7"/>
                </a:solidFill>
                <a:latin typeface="Segoe UI"/>
              </a:rPr>
              <a:t>•  Expected: proven system for border-wide rollout at &lt; 10% of alternatives'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EA0C0"/>
                </a:solidFill>
                <a:latin typeface="Segoe UI"/>
              </a:rPr>
              <a:t>Timeline:  M1–3 pilot  →  M4–6 rollout decision  →  M7–12 border-wide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EA0C0"/>
                </a:solidFill>
                <a:latin typeface="Segoe UI"/>
              </a:rPr>
              <a:t>Project Team: [Your College / Team Name]   ·   [email]   ·   [phone]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